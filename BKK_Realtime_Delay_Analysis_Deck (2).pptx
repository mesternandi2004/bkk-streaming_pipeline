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57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685800"/>
            <a:ext cx="4114800" cy="384048"/>
          </a:xfrm>
          <a:prstGeom prst="roundRect">
            <a:avLst>
              <a:gd name="adj" fmla="val 47619"/>
            </a:avLst>
          </a:prstGeom>
          <a:solidFill>
            <a:srgbClr val="0F1B2E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023360" y="685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OPEN DATA · KAFKA + SPARK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Public Transit
</a:t>
            </a:r>
            <a:r>
              <a:rPr lang="en-US" sz="4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828800" y="32461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Kafka – Spark streaming pipeline for BKK GTFS-realtime data, from live vehicle feeds to a predictive delay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423367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572768" y="4160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Slides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423367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3218688" y="4160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423367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687568" y="4160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Warehouse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423367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8430768" y="41605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0" y="42336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10716768" y="4160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— Big Data &amp;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🎯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Motivation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research questions, and why this matters. Slides 3–4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4709160" y="192024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709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📡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 Sources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GTFS-realtime feeds, licensing, and static schedule data. Slides 5–6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⚙️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5496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Architecture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 pipeline, raw schemas, delay computation. Slides 7–9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🏢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Data Warehouse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dimension tables and the delay fact table. Slide 10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056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4709160" y="429768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47091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🔍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470916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Use Cases &amp; Method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analysis, prediction, and the analysis workflow. Slides 11–12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2104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2C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8549640" y="4297680"/>
            <a:ext cx="502920" cy="502920"/>
          </a:xfrm>
          <a:prstGeom prst="ellipse">
            <a:avLst/>
          </a:prstGeom>
          <a:solidFill>
            <a:srgbClr val="121A2C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8549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🚀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54964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Deployment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4964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vs. local topology, backup, risk, timeline. Slides 13–16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Delays Are Invisible Until You Measure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~800–1,200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vehicles tracked live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3429000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trips per day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6217920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5508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feed refresh interval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9006840" y="18562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0" y="2532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GTFS-realtime feeds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21A2C"/>
          </a:solidFill>
          <a:ln w="12700">
            <a:solidFill>
              <a:srgbClr val="1F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riders experience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delays, no visibility into why, and no way to know if the app's estimate is trustworthy.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0" cy="91440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62636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this project builds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40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data-driven view of network reliability — where and when delays happen, and whether they can be predicted.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The core idea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BKK's live vehicle and schedule feeds are consumed on demand today — never archived or analyzed over time. This project streams them continuously through Kafka and Spark, turning a live feed into a queryable, historical dataset built for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Research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Measure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delay-analysis system that continuously measures the deviation between scheduled and actual vehicle arrival times across the BKK network.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— Understand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factors — route, time of day, day of week, location, weather — are most strongly associated with delays.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84124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Forecast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3291840"/>
            <a:ext cx="29718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8412480" y="34747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short-horizon delay prediction model and benchmark it against BKK's own real-time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BKK FUTÁR Open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official real-time feeds, all requiring a free API key, refreshed no more than once per 10 seconds</a:t>
            </a:r>
            <a:r>
              <a:rPr lang="hu-HU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3108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this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VehiclePositions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GPS position, speed, bearing, current stop, vehicle metadata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input — position tracking, speed/congestion signals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vs. estimated arrival/departure per stop, per trip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for delay measurement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GTFS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timetable, routes, stops, trips (updated every few days)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 — dimension 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749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F1B2E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91440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License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under Creative Commons Attribution 4.0 (CC BY 4.0). All use requires attribution: "Adatok forrása: BKK Zrt., CC BY 4.0". No personal data — feeds describe vehicles, not passengers.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Data Flows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static data operate on very different cadences — and do not share the Kafka layer.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42416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(batch)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VehiclePositions, TripUpdates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routes, stops, trips, stop_times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~15 seconds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few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 → Kafka → Spark Streaming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download → parse → upsert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fact_stop_delay (append-only)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dim_* tables (overwritten)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5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914400" y="550468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split: high-frequency small events genuinely benefit from a streaming buffer and micro-batch processing, while reference data changes rarely — streaming it would add complexity with no benefit.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Poller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07208" y="17830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2807208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9864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81728" y="21031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74336" y="17830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974336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6577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48856" y="21031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41464" y="17830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7141464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3290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+ PostgreSQL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15984" y="210312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308592" y="17830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9308592" y="1920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40003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/>
          <p:cNvSpPr/>
          <p:nvPr/>
        </p:nvSpPr>
        <p:spPr>
          <a:xfrm>
            <a:off x="822960" y="374904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1005840" y="3675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layer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 polls BKK feeds every ~15s, decodes Protocol Buffers, publishes JSON to Kafka.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566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3611880" y="3749040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794760" y="3675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buffer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1188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(KRaft mode) durably receives and buffers the event stream; decouples ingestion from processing.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566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Shape 31"/>
          <p:cNvSpPr/>
          <p:nvPr/>
        </p:nvSpPr>
        <p:spPr>
          <a:xfrm>
            <a:off x="6400800" y="374904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6583680" y="3675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processing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parses, aggregates, and joins against the static schedule.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840" y="3566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7" name="Shape 35"/>
          <p:cNvSpPr/>
          <p:nvPr/>
        </p:nvSpPr>
        <p:spPr>
          <a:xfrm>
            <a:off x="9189720" y="374904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9372600" y="3675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storage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18972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and Silver layers are stored in a scalable file system using Delta format, while curated and aggregated data is loaded into PostgreSQL for analytics and BI.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 Extension: Delta Lake Bronze/Silver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F1B1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</a:t>
            </a:r>
            <a:r>
              <a:rPr lang="hu-HU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TIME PERMITS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F1B10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as received from Kafka — unmodified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A1D24"/>
          </a:solidFill>
          <a:ln w="12700">
            <a:solidFill>
              <a:srgbClr val="9CA3A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43484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34840" y="24414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Parsed, deduplicated, schema-conformed — still raw grain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3317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1874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F1B0A"/>
          </a:solidFill>
          <a:ln w="12700">
            <a:solidFill>
              <a:srgbClr val="CA8A0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800100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001000" y="24414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star schema — what Power BI 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&amp; Silver: Delta Lake (Parquet + transaction log) on VM disk / cloud storage      •      Gold: PostgreSQL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91440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Small-file problem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micro-batches (~15s) create many small files over time — degrades read performance. Mitigations: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bronze write interval: 1–5 min instead of 15s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compaction: Delta OPTIMIZE + VACUUM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0D142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644652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VIA CRON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389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3 * * * cd /opt/spark &amp;&amp; \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bin/spark-submit compact_delta.py \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/var/log/delta_compaction.log 2&gt;&amp;1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532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nightly, unattended — no manual step required. delta-spark runs on the existing self-managed Spark install, no Databricks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INFRA ENHANCEMENTS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Trail, SCD2 &amp;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F1B1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2–3 — IF TIME PERMITS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Load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tagged with a load_number; every table carries created_at, source_system. A separate audit_pipeline_runs table logs status, row_count, and duration per layer per run — full traceability without a dedicated observability platform.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57200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SCD Type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valid_from / valid_to / is_current on dim_route, dim_stop, dim_trip. On a changed GTFS value, the old row is closed and a new one opened — the standard pattern (not a valid_from = 0 shortcut). Low analytical payoff for this project, so it's a later-stage addition.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21A2C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8229600" y="2029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auth instead of password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restricted to known IPs / SSH tunnel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.env, excluded via .gitignore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914400" y="5047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Honest scope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standard, low-effort hardening and traceability steps — not an enterprise security or governance programme (no secrets vault, no data catalog). That level of rigor isn't required for a research project handling no personal data, and isn't planned.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Event Schema — Vehicle Positions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 verified directly against the live BKK debug endpoint (bkk-vehicle-positions topic):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37124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trip_id / route_id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vehicle.trip.*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Links to the scheduled trip and route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latitude / longitude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vehicle.position.*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 GPS position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 / bearing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vehicle.position.*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m/s and compass degrees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current_status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STOPPED_AT / IN_TRANSIT_TO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 state at this instant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vehicle_id / license_plate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vehicle.vehicle.*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Physical vehicle identity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stop_distance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[realcity.vehicle]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Meters to next stop — useful for bunching signals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1424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914400" y="5687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BKK nests a second, BKK-specific “vehicle” block plus a realcity extension alongside the standard GTFS-realtime fields — both are flattened into one Kafka message.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Delay from TripUpdates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394960" cy="2651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stop_id / stop_sequence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stop_time_update.*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arrival_time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stop_time_update.arrival.time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scheduled_arrival_time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[realcity.stop_time_update]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delay_seconds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derived in Spark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69164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0D1420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653796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COMPUTATION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3796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delay_seconds</a:t>
            </a: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arrival_time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−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scheduled_arrival_time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3383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(live data, 17 Jul 2026): scheduled 04:02:00 UTC → actual 04:01:42 UTC = −18s (early)</a:t>
            </a:r>
            <a:endParaRPr lang="en-US" sz="1150" dirty="0"/>
          </a:p>
        </p:txBody>
      </p:sp>
      <p:sp>
        <p:nvSpPr>
          <p:cNvPr id="5" name="Shape 7"/>
          <p:cNvSpPr/>
          <p:nvPr/>
        </p:nvSpPr>
        <p:spPr>
          <a:xfrm>
            <a:off x="640080" y="48920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0F1B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Known join complexity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shows trip_id formats differ between regularly scheduled trips (e.g. “D1684776”) and dynamically added trips (e.g. “1784260780201”, flagged schedule_relationship = ADDED). ADDED trips have no static-schedule counterpart and may need to be excluded from delay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DATA WAREHOUSE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Star Schema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dim_vehicle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8892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278892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dim_route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dim_stop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660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708660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dim_trip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18288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923544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23060" y="2606040"/>
            <a:ext cx="0" cy="502920"/>
          </a:xfrm>
          <a:prstGeom prst="line">
            <a:avLst/>
          </a:prstGeom>
          <a:noFill/>
          <a:ln w="19050">
            <a:solidFill>
              <a:srgbClr val="1F2A44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3771900" y="2606040"/>
            <a:ext cx="0" cy="502920"/>
          </a:xfrm>
          <a:prstGeom prst="line">
            <a:avLst/>
          </a:prstGeom>
          <a:noFill/>
          <a:ln w="19050">
            <a:solidFill>
              <a:srgbClr val="1F2A44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5920740" y="2606040"/>
            <a:ext cx="0" cy="502920"/>
          </a:xfrm>
          <a:prstGeom prst="line">
            <a:avLst/>
          </a:prstGeom>
          <a:noFill/>
          <a:ln w="19050">
            <a:solidFill>
              <a:srgbClr val="1F2A44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8069580" y="2606040"/>
            <a:ext cx="0" cy="502920"/>
          </a:xfrm>
          <a:prstGeom prst="line">
            <a:avLst/>
          </a:prstGeom>
          <a:noFill/>
          <a:ln w="19050">
            <a:solidFill>
              <a:srgbClr val="1F2A44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10218420" y="2606040"/>
            <a:ext cx="0" cy="502920"/>
          </a:xfrm>
          <a:prstGeom prst="line">
            <a:avLst/>
          </a:prstGeom>
          <a:noFill/>
          <a:ln w="19050">
            <a:solidFill>
              <a:srgbClr val="1F2A44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0D1420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fact_stop_delay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611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(trip, stop) observation — append-only, written by the Spark micro-batch job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 → FK   •   route_id → FK   •   trip_id → FK   •   stop_id → FK   •   date_id → FK   •   delay_seconds   •   avg_speed_segment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91440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303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carry slowly-changing reference data (routes, stops, vehicles, calendar), refreshed from static GTFS every few days. The fact table grows continuously from the stream but stays compact — no repeated text fields per row — exactly the structure Power BI is optimized to report against.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Measurement to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343400" y="18928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343400" y="1892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delay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compute deviation between actual and scheduled arrival, aggregated by route, direction, time of day.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9875520" y="18928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9875520" y="1892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delays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delays with route segment, time of day, day type, and optionally weather to find drivers of unreliability.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4343400" y="41788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343400" y="4178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68680" y="4754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future delays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120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delay at the next stop(s) from recent speed and position; benchmark against BKK's own estimate.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9776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9875520" y="41788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9875520" y="41788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Bunching detection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5120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vehicles on the same route converging abnormally close — a common symptom of upstream delay.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Five-Step Analysis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1367028" y="2057400"/>
            <a:ext cx="512064" cy="512064"/>
          </a:xfrm>
          <a:prstGeom prst="ellipse">
            <a:avLst/>
          </a:prstGeom>
          <a:solidFill>
            <a:srgbClr val="1B2740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36702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continuous ingestion for a multi-week period to build a representative dataset.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25496" y="18288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3552444" y="2057400"/>
            <a:ext cx="512064" cy="512064"/>
          </a:xfrm>
          <a:prstGeom prst="ellipse">
            <a:avLst/>
          </a:prstGeom>
          <a:solidFill>
            <a:srgbClr val="1B2740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3552444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62656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08376" y="3429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delay distributions by route, time, and location.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91456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10912" y="18288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5737860" y="2057400"/>
            <a:ext cx="512064" cy="512064"/>
          </a:xfrm>
          <a:prstGeom prst="ellipse">
            <a:avLst/>
          </a:prstGeom>
          <a:solidFill>
            <a:srgbClr val="1B274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73786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48072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93792" y="3429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analysis linking context to delay magnitude.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76872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96328" y="18288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7923276" y="2057400"/>
            <a:ext cx="512064" cy="512064"/>
          </a:xfrm>
          <a:prstGeom prst="ellipse">
            <a:avLst/>
          </a:prstGeom>
          <a:solidFill>
            <a:srgbClr val="1B274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7923276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33488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79208" y="3429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short-horizon delay model; evaluate with MAE / RMSE.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62288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381744" y="182880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10108692" y="2057400"/>
            <a:ext cx="512064" cy="512064"/>
          </a:xfrm>
          <a:prstGeom prst="ellipse">
            <a:avLst/>
          </a:prstGeom>
          <a:solidFill>
            <a:srgbClr val="1B274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10108692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518904" y="2743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64624" y="34290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BKK's official estimate on held-out data.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POSSIBLE 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Explanatory &amp; Predictive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F1B1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 — NOT COMMITTED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6616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to evaluate once the base pipeline is running — not part of the core deliverable.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Explaining delays — possible signals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(Open-Meteo, free) — precipitation, wind, temperature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holidays / event calendars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proxy from existing speed data (no new source)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traits: dedicated lane, stop count, segment length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(already collected: vehicle_model)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Prediction — possible signals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delay at the previous 1–3 stops (likely strongest signal)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Headway to the preceding vehicle (bunching risk)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stops / distance to target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vs. historical average speed on segment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average delay for route × stop × time × 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If pursued: modeling notes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(LightGBM/XGBoost) is the likely starting point — interpretable, needs less data than a sequential model. A quantile-regression variant could output a delay range instead of a single number, a more distinctive result than BKK's own estimate. Requires several weeks of varied data (time of day, weather, day type) to train reliably — not feasible from a day or two of collection.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Component Runs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3603"/>
              </p:ext>
            </p:extLst>
          </p:nvPr>
        </p:nvGraphicFramePr>
        <p:xfrm>
          <a:off x="640080" y="1691640"/>
          <a:ext cx="10881360" cy="26517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poller, Kafka, Spark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(0–24)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run continuously — cannot depend on a laptop being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hu-HU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Lake and </a:t>
                      </a: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(primary)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source of truth — Spark writes here directly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/ notebooks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laptop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User-facing only; connects remotely to the VM's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 and portability, at negligible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1B2E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91440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Guiding principle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database must not live on a personal laptop — if it sleeps, powers off, or loses connectivity, the pipeline stalls. The VM is treated as the single source of truth; the laptop acts only as a client for visualization and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Strategy &amp; Data Volume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Backup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pg_dump → cloud object storage, via cron on the VM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cost: &lt;$1/month at this data volume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retention kept short (7–14 days) — it's a buffer, not a backup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64465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Estimated volume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286000"/>
          <a:ext cx="4892040" cy="153619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~50–70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~1–1.5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~600–800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~11–18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F1B2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91440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Takeaway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curated fact table — the data actually used for analysis — is small enough to manage comfortably over a full year, even on a personal machine. The raw Kafka stream is not meant to be retained long-term.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841248" y="18928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051560" y="1819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may throttle keys under heavy load; polling capped at 15s to stay within recommended limits.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4590288" y="189280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800600" y="1819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availability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VM is workplace-hosted; migration to an independently accessible host is planned before long-term collection.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8339328" y="189280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8549640" y="1819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22402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feeds can have gaps; the pipeline logs and quantifies completeness as part of the methodology.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841248" y="404164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1051560" y="3968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ceiling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389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BKK's own estimate is already a strong baseline — improvement isn't guaranteed and will be reported honestly.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590288" y="404164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800600" y="3968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ID join complexity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389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vs. ADDED trips use different ID formats; ADDED trips may be excluded from scheduled-delay analysis.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6" name="Shape 24"/>
          <p:cNvSpPr/>
          <p:nvPr/>
        </p:nvSpPr>
        <p:spPr>
          <a:xfrm>
            <a:off x="8339328" y="404164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8549640" y="3968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dependency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6760" y="43891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pg_dump adds a light operational task — must be monitored so backups don't silently fail.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3017520"/>
            <a:ext cx="1014984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1499616" y="2816352"/>
            <a:ext cx="402336" cy="402336"/>
          </a:xfrm>
          <a:prstGeom prst="ellipse">
            <a:avLst/>
          </a:prstGeom>
          <a:solidFill>
            <a:srgbClr val="1B2740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499616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Kafka/Spark finalized, API access confirmed, producer operational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00784" y="2560320"/>
            <a:ext cx="0" cy="45720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3575304" y="2816352"/>
            <a:ext cx="402336" cy="402336"/>
          </a:xfrm>
          <a:prstGeom prst="ellipse">
            <a:avLst/>
          </a:prstGeom>
          <a:solidFill>
            <a:srgbClr val="1B2740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3575304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61488" y="342900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121A2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2898648" y="353872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98648" y="390448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ingestion running; multi-week dataset accumulated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76472" y="3017520"/>
            <a:ext cx="0" cy="41148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5650992" y="2816352"/>
            <a:ext cx="402336" cy="402336"/>
          </a:xfrm>
          <a:prstGeom prst="ellipse">
            <a:avLst/>
          </a:prstGeom>
          <a:solidFill>
            <a:srgbClr val="1B2740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650992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37176" y="132588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121A2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974336" y="1435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74336" y="180136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distributions and reliability patterns characterized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2560320"/>
            <a:ext cx="0" cy="457200"/>
          </a:xfrm>
          <a:prstGeom prst="line">
            <a:avLst/>
          </a:prstGeom>
          <a:noFill/>
          <a:ln w="1270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7726680" y="2816352"/>
            <a:ext cx="402336" cy="402336"/>
          </a:xfrm>
          <a:prstGeom prst="ellipse">
            <a:avLst/>
          </a:prstGeom>
          <a:solidFill>
            <a:srgbClr val="1B2740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772668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12864" y="342900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121A2C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7050024" y="353872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50024" y="390448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trained, tuned, and validated against 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27848" y="3017520"/>
            <a:ext cx="0" cy="411480"/>
          </a:xfrm>
          <a:prstGeom prst="line">
            <a:avLst/>
          </a:prstGeom>
          <a:noFill/>
          <a:ln w="1270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  <p:sp>
        <p:nvSpPr>
          <p:cNvPr id="30" name="Shape 28"/>
          <p:cNvSpPr/>
          <p:nvPr/>
        </p:nvSpPr>
        <p:spPr>
          <a:xfrm>
            <a:off x="9802368" y="2816352"/>
            <a:ext cx="402336" cy="402336"/>
          </a:xfrm>
          <a:prstGeom prst="ellipse">
            <a:avLst/>
          </a:prstGeom>
          <a:solidFill>
            <a:srgbClr val="1B27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9802368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88552" y="1325880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121A2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9125712" y="14356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25712" y="1801368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consolidated into thesis chapters / paper draft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03536" y="2560320"/>
            <a:ext cx="0" cy="4572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320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21A2C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Takeaways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BKK feeds are turned into a durable, analyzable dataset via Kafka + Spark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keeps the growing fact data compact and Power BI–ready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 is benchmarked against BKK's own real-time estimate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hosts the pipeline; laptop and cloud are client and backup only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and licensing (CC BY 4.0) are both accounted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F1B2E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64465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Action Items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2860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API access &amp; storage plan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0" y="26243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API key and decide on the VM/cloud hosting for long-term collection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3246120"/>
            <a:ext cx="365760" cy="36576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32004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producer + Kafka + Spark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35387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continuous ingestion running end to 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4160520"/>
            <a:ext cx="365760" cy="36576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114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2–4 week pilot collection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44531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schema, volume estimates, and completeness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5074920"/>
            <a:ext cx="365760" cy="36576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5029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 descriptive dashboard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53675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view of delay patterns by route and 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2637</Words>
  <Application>Microsoft Office PowerPoint</Application>
  <PresentationFormat>Szélesvásznú</PresentationFormat>
  <Paragraphs>392</Paragraphs>
  <Slides>20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Nándor Mester</cp:lastModifiedBy>
  <cp:revision>2</cp:revision>
  <dcterms:created xsi:type="dcterms:W3CDTF">2026-07-21T04:48:50Z</dcterms:created>
  <dcterms:modified xsi:type="dcterms:W3CDTF">2026-07-21T06:56:36Z</dcterms:modified>
</cp:coreProperties>
</file>